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400"/>
              </a:spcAft>
              <a:defRPr sz="4800" b="1">
                <a:solidFill>
                  <a:srgbClr val="FFFFFF"/>
                </a:solidFill>
                <a:latin typeface="Arial"/>
              </a:defRPr>
            </a:pPr>
            <a:r>
              <a:t>Redrob Intelligent Candidate</a:t>
            </a:r>
            <a:br/>
            <a:r>
              <a:t>Discovery &amp; Ranking</a:t>
            </a:r>
          </a:p>
          <a:p>
            <a:pPr>
              <a:spcAft>
                <a:spcPts val="4000"/>
              </a:spcAft>
              <a:defRPr sz="2400">
                <a:solidFill>
                  <a:srgbClr val="6366F1"/>
                </a:solidFill>
                <a:latin typeface="Arial"/>
              </a:defRPr>
            </a:pPr>
            <a:r>
              <a:t>A Two-Phase Hybrid Ranking System</a:t>
            </a:r>
          </a:p>
          <a:p>
            <a:pPr>
              <a:defRPr sz="1600">
                <a:solidFill>
                  <a:srgbClr val="E2E8F0"/>
                </a:solidFill>
                <a:latin typeface="Arial"/>
              </a:defRPr>
            </a:pPr>
            <a:r>
              <a:t>Name: Midhun PM  |  Event: Redrob Data &amp; AI Challenge — Hack2skill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8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•  Scale &amp; Target Role: </a:t>
            </a:r>
            <a:r>
              <a:rPr sz="2000">
                <a:solidFill>
                  <a:srgbClr val="E2E8F0"/>
                </a:solidFill>
                <a:latin typeface="Arial"/>
              </a:rPr>
              <a:t>100,000 synthetic candidate profiles, rank top 100 for a Senior AI Engineer (Founding Team) role</a:t>
            </a:r>
          </a:p>
          <a:p>
            <a:pPr>
              <a:spcAft>
                <a:spcPts val="28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•  The Keyword-Stuffing Trap: </a:t>
            </a:r>
            <a:r>
              <a:rPr sz="2000">
                <a:solidFill>
                  <a:srgbClr val="E2E8F0"/>
                </a:solidFill>
                <a:latin typeface="Arial"/>
              </a:rPr>
              <a:t>Naive keyword/embedding matching is a trap — a Marketing Manager listing AI buzzwords should NOT outrank a genuine ML engineer</a:t>
            </a:r>
          </a:p>
          <a:p>
            <a:pPr>
              <a:spcAft>
                <a:spcPts val="28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•  Strict Operational Constraints: </a:t>
            </a:r>
            <a:r>
              <a:rPr sz="2000">
                <a:solidFill>
                  <a:srgbClr val="E2E8F0"/>
                </a:solidFill>
                <a:latin typeface="Arial"/>
              </a:rPr>
              <a:t>Ranking step must run in under 5 minutes, CPU only, no network, under 16GB 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Two-Phase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Phase 1: Offline Precomputations</a:t>
            </a:r>
          </a:p>
          <a:p>
            <a:pPr>
              <a:spcAft>
                <a:spcPts val="1600"/>
              </a:spcAft>
              <a:defRPr sz="1600">
                <a:solidFill>
                  <a:srgbClr val="E2E8F0"/>
                </a:solidFill>
                <a:latin typeface="Arial"/>
              </a:defRPr>
            </a:pPr>
            <a:r>
              <a:t>•  precompute_features.py</a:t>
            </a:r>
            <a:br/>
            <a:r>
              <a:t>   Extracts rule-based features &amp; consistency flags.</a:t>
            </a:r>
          </a:p>
          <a:p>
            <a:pPr>
              <a:spcAft>
                <a:spcPts val="1600"/>
              </a:spcAft>
              <a:defRPr sz="1600">
                <a:solidFill>
                  <a:srgbClr val="E2E8F0"/>
                </a:solidFill>
                <a:latin typeface="Arial"/>
              </a:defRPr>
            </a:pPr>
            <a:r>
              <a:t>•  precompute_embeddings.py</a:t>
            </a:r>
            <a:br/>
            <a:r>
              <a:t>   Generates local all-MiniLM-L6-v2 embeddings on CPU.</a:t>
            </a:r>
          </a:p>
          <a:p>
            <a:pPr>
              <a:defRPr sz="1600">
                <a:solidFill>
                  <a:srgbClr val="F59E0B"/>
                </a:solidFill>
                <a:latin typeface="Arial"/>
              </a:defRPr>
            </a:pPr>
            <a:r>
              <a:t>•  Resulting Artifacts:</a:t>
            </a:r>
            <a:br/>
            <a:r>
              <a:t>   Compressed feature dictionary + 100K × 384 embedding matrix (153MB) stored offline.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Phase 2: Timed Candidate Ranking</a:t>
            </a:r>
          </a:p>
          <a:p>
            <a:pPr>
              <a:spcAft>
                <a:spcPts val="2000"/>
              </a:spcAft>
              <a:defRPr sz="1600">
                <a:solidFill>
                  <a:srgbClr val="E2E8F0"/>
                </a:solidFill>
                <a:latin typeface="Arial"/>
              </a:defRPr>
            </a:pPr>
            <a:r>
              <a:t>•  rank.py — Orchestrator</a:t>
            </a:r>
            <a:br/>
            <a:r>
              <a:t>   Runs fully vectorized scoring, gates honeypots, and sorts the top 100 in under 25 seconds.</a:t>
            </a:r>
          </a:p>
          <a:p>
            <a:pPr>
              <a:spcAft>
                <a:spcPts val="2000"/>
              </a:spcAft>
              <a:defRPr sz="1600">
                <a:solidFill>
                  <a:srgbClr val="E2E8F0"/>
                </a:solidFill>
                <a:latin typeface="Arial"/>
              </a:defRPr>
            </a:pPr>
            <a:r>
              <a:t>•  Factual Reasoning Generator</a:t>
            </a:r>
            <a:br/>
            <a:r>
              <a:t>   Dynamically explains the top-100 placements using candidates' actual experience, titles, and skills.</a:t>
            </a:r>
          </a:p>
          <a:p>
            <a:pPr>
              <a:defRPr sz="1600" b="1">
                <a:solidFill>
                  <a:srgbClr val="F59E0B"/>
                </a:solidFill>
                <a:latin typeface="Arial"/>
              </a:defRPr>
            </a:pPr>
            <a:r>
              <a:t>•  reproduce_command:</a:t>
            </a:r>
            <a:br/>
            <a:r>
              <a:t>   python rank.py --candidates ./candidates.jsonl --out ./submission.csv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Hybrid Scoring (score.py)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Mathematical Weights &amp; Sub-scores: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Title Relevance (25%): </a:t>
            </a:r>
            <a:r>
              <a:rPr sz="1400">
                <a:solidFill>
                  <a:srgbClr val="E2E8F0"/>
                </a:solidFill>
                <a:latin typeface="Arial"/>
              </a:rPr>
              <a:t>Taxonomy scoring AI/ML roles vs unrelated titles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Production ML Evidence (20%): </a:t>
            </a:r>
            <a:r>
              <a:rPr sz="1400">
                <a:solidFill>
                  <a:srgbClr val="E2E8F0"/>
                </a:solidFill>
                <a:latin typeface="Arial"/>
              </a:rPr>
              <a:t>Keyword deployment indicators in job descriptions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Retrieval &amp; Embeddings (15%): </a:t>
            </a:r>
            <a:r>
              <a:rPr sz="1400">
                <a:solidFill>
                  <a:srgbClr val="E2E8F0"/>
                </a:solidFill>
                <a:latin typeface="Arial"/>
              </a:rPr>
              <a:t>Target infra skills weighted by duration + endorsements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Semantic Similarity (15%): </a:t>
            </a:r>
            <a:r>
              <a:rPr sz="1400">
                <a:solidFill>
                  <a:srgbClr val="E2E8F0"/>
                </a:solidFill>
                <a:latin typeface="Arial"/>
              </a:rPr>
              <a:t>all-MiniLM-L6-v2 cosine similarity with JD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Evaluation Framework (10%): </a:t>
            </a:r>
            <a:r>
              <a:rPr sz="1400">
                <a:solidFill>
                  <a:srgbClr val="E2E8F0"/>
                </a:solidFill>
                <a:latin typeface="Arial"/>
              </a:rPr>
              <a:t>NDCG, MRR, MAP, and A/B testing exposure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Experience Years Curve (5%): </a:t>
            </a:r>
            <a:r>
              <a:rPr sz="1400">
                <a:solidFill>
                  <a:srgbClr val="E2E8F0"/>
                </a:solidFill>
                <a:latin typeface="Arial"/>
              </a:rPr>
              <a:t>Gaussian bump function peaking at 5-9 years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Location &amp; Notice (10%): </a:t>
            </a:r>
            <a:r>
              <a:rPr sz="1400">
                <a:solidFill>
                  <a:srgbClr val="E2E8F0"/>
                </a:solidFill>
                <a:latin typeface="Arial"/>
              </a:rPr>
              <a:t>Pune/Noida preference and quick-start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389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Final Composite Fit Formula</a:t>
            </a:r>
          </a:p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Final Score = Base Fit Score × Behavioral Multiplier</a:t>
            </a:r>
          </a:p>
          <a:p>
            <a:pPr>
              <a:defRPr sz="1600">
                <a:solidFill>
                  <a:srgbClr val="E2E8F0"/>
                </a:solidFill>
                <a:latin typeface="Arial"/>
              </a:defRPr>
            </a:pPr>
            <a:r>
              <a:t>•  Base Fit Score: Sum of 8 sub-scores above (exactly 1.00 total) minus negative penalties (consulting-only, title chasers, vision-only).</a:t>
            </a:r>
            <a:br/>
            <a:br/>
            <a:r>
              <a:t>•  Behavioral Multiplier: Scales between [0.70, 1.15] based on last active recency, open-to-work flag, response rate, and interview completion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Honeypot Consistency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Four Logical Gating Checks: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Expert Skill Mismatch: </a:t>
            </a:r>
            <a:r>
              <a:rPr sz="1600">
                <a:solidFill>
                  <a:srgbClr val="E2E8F0"/>
                </a:solidFill>
                <a:latin typeface="Arial"/>
              </a:rPr>
              <a:t>Expert proficiency claimed in a skill with 0 duration_months.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Experience Mismatch: </a:t>
            </a:r>
            <a:r>
              <a:rPr sz="1600">
                <a:solidFill>
                  <a:srgbClr val="E2E8F0"/>
                </a:solidFill>
                <a:latin typeface="Arial"/>
              </a:rPr>
              <a:t>Stated experience wildly inconsistent with sum of career history job durations.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Timeline Mismatch: </a:t>
            </a:r>
            <a:r>
              <a:rPr sz="1600">
                <a:solidFill>
                  <a:srgbClr val="E2E8F0"/>
                </a:solidFill>
                <a:latin typeface="Arial"/>
              </a:rPr>
              <a:t>Job start date is after its end date.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Job Tenure Discrepancy: </a:t>
            </a:r>
            <a:r>
              <a:rPr sz="1600">
                <a:solidFill>
                  <a:srgbClr val="E2E8F0"/>
                </a:solidFill>
                <a:latin typeface="Arial"/>
              </a:rPr>
              <a:t>Stated duration_months differs from actual start/end difference by &gt; 6 months.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389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Results and Gating Findings</a:t>
            </a:r>
          </a:p>
          <a:p>
            <a:pPr>
              <a:defRPr sz="1600">
                <a:solidFill>
                  <a:srgbClr val="E2E8F0"/>
                </a:solidFill>
                <a:latin typeface="Arial"/>
              </a:defRPr>
            </a:pPr>
            <a:r>
              <a:t>•  Total gated candidates: Exactly 61 honeypots excluded from top-100 eligibility.</a:t>
            </a:r>
            <a:br/>
            <a:br/>
            <a:r>
              <a:t>•  Noisy Rule Investigation: We initially flagged 24,931 candidates due to salary inversion (min &gt; max) and signup date (signup &gt; last active) rules. Testing on the organizer's own valid sample proved these were random generation artifacts, not real honeypots. Removing them saved thousands of qualified profiles.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Real Engineering: Catching the Keyword-Stuffing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The Bug: Unfiltered Rankings</a:t>
            </a:r>
          </a:p>
          <a:p>
            <a:pPr>
              <a:spcAft>
                <a:spcPts val="1600"/>
              </a:spcAft>
              <a:defRPr sz="1600">
                <a:solidFill>
                  <a:srgbClr val="E2E8F0"/>
                </a:solidFill>
                <a:latin typeface="Arial"/>
              </a:defRPr>
            </a:pPr>
            <a:r>
              <a:t>•  Keyword Stuffer Loophole:</a:t>
            </a:r>
            <a:br/>
            <a:r>
              <a:t>   unrelated titles (e.g. Marketing Manager, Civil Engineer) scored high by listing AI terms or having adjacent job descriptions.</a:t>
            </a:r>
          </a:p>
          <a:p>
            <a:pPr>
              <a:defRPr sz="1600">
                <a:solidFill>
                  <a:srgbClr val="F59E0B"/>
                </a:solidFill>
                <a:latin typeface="Arial"/>
              </a:defRPr>
            </a:pPr>
            <a:r>
              <a:t>•  Marketing Manager (CAND_0000039):</a:t>
            </a:r>
            <a:br/>
            <a:r>
              <a:t>   Ranked #9 out of 50 in our sample candidate pool. The reasoning generator hallucinated and labeled them an 'Exceptional ML engineer profile.'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45920"/>
            <a:ext cx="49377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The Fix: Strict Gating &amp; Guardrails</a:t>
            </a:r>
          </a:p>
          <a:p>
            <a:pPr>
              <a:spcAft>
                <a:spcPts val="1600"/>
              </a:spcAft>
              <a:defRPr sz="1600">
                <a:solidFill>
                  <a:srgbClr val="E2E8F0"/>
                </a:solidFill>
                <a:latin typeface="Arial"/>
              </a:defRPr>
            </a:pPr>
            <a:r>
              <a:t>•  Title Relevance zero-gate:</a:t>
            </a:r>
            <a:br/>
            <a:r>
              <a:t>   Rebuilt the title taxonomy. Any candidate with an unrelated title (Marketing Manager, Civil Engineer, Accountant, HR Manager) is forced to a score of exactly 0.0.</a:t>
            </a:r>
          </a:p>
          <a:p>
            <a:pPr>
              <a:defRPr sz="1600">
                <a:solidFill>
                  <a:srgbClr val="F59E0B"/>
                </a:solidFill>
                <a:latin typeface="Arial"/>
              </a:defRPr>
            </a:pPr>
            <a:r>
              <a:t>•  Factual Reasoning Guardrails:</a:t>
            </a:r>
            <a:br/>
            <a:r>
              <a:t>   Restricted high-tier phrasing to true ML titles. Marketing Manager correctly demoted to bottom of pool with reasoning: 'Background as Marketing Manager is not aligned with the core requirements.'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Verified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Operational Performance: </a:t>
            </a:r>
            <a:r>
              <a:rPr sz="1600">
                <a:solidFill>
                  <a:srgbClr val="E2E8F0"/>
                </a:solidFill>
                <a:latin typeface="Arial"/>
              </a:rPr>
              <a:t>Ranking pipeline runs in 23.33 seconds wall-clock on CPU (13th Gen Intel i5-13500H, 16GB RAM, no GPU, no network).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Format Validation: </a:t>
            </a:r>
            <a:r>
              <a:rPr sz="1600">
                <a:solidFill>
                  <a:srgbClr val="E2E8F0"/>
                </a:solidFill>
                <a:latin typeface="Arial"/>
              </a:rPr>
              <a:t>'Submission is valid.' — validated against validate_submission.py, zero format or sorting errors.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Zero Honeypots: </a:t>
            </a:r>
            <a:r>
              <a:rPr sz="1600">
                <a:solidFill>
                  <a:srgbClr val="E2E8F0"/>
                </a:solidFill>
                <a:latin typeface="Arial"/>
              </a:rPr>
              <a:t>0 honeypots in top 100 (61 honeypots successfully filtered by the precomputation gate).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Score &amp; Tie-breaking: </a:t>
            </a:r>
            <a:r>
              <a:rPr sz="1600">
                <a:solidFill>
                  <a:srgbClr val="E2E8F0"/>
                </a:solidFill>
                <a:latin typeface="Arial"/>
              </a:rPr>
              <a:t>Top 100 score ranges from 1.04 (rank 1) to 0.91 (rank 100). Deterministic tie-breaking by candidate ID ascending.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Factual Reasoning text: </a:t>
            </a:r>
            <a:r>
              <a:rPr sz="1600">
                <a:solidFill>
                  <a:srgbClr val="E2E8F0"/>
                </a:solidFill>
                <a:latin typeface="Arial"/>
              </a:rPr>
              <a:t>100% fact-grounded reasonings verified across all rows. No duplicated seniority words ('Senior Senior') or duplicate consecutive patterns.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•  Git Authenticity: </a:t>
            </a:r>
            <a:r>
              <a:rPr sz="1600">
                <a:solidFill>
                  <a:srgbClr val="E2E8F0"/>
                </a:solidFill>
                <a:latin typeface="Arial"/>
              </a:rPr>
              <a:t>17 real incremental commits showing true pair programming iteration (features, embeddings, tests, Streamlit UI, bugs).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0152" cy="91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Arial"/>
              </a:defRPr>
            </a:pPr>
            <a:r>
              <a:t>_____________________________________________________________________________________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8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GitHub: https://github.com/midhunpm1002/redrob-candidate-ranking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•  Two-Phase Architecture: </a:t>
            </a:r>
            <a:r>
              <a:rPr sz="1800">
                <a:solidFill>
                  <a:srgbClr val="E2E8F0"/>
                </a:solidFill>
                <a:latin typeface="Arial"/>
              </a:rPr>
              <a:t>Separating embedding computation from active ranking is critical to meet the 5-minute constraint while maintaining high vector-search relevance.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•  Defensive Hybrid Scoring: </a:t>
            </a:r>
            <a:r>
              <a:rPr sz="1800">
                <a:solidFill>
                  <a:srgbClr val="E2E8F0"/>
                </a:solidFill>
                <a:latin typeface="Arial"/>
              </a:rPr>
              <a:t>Curating a custom title taxonomy and weighting skills by duration/endorsements shields the system from keyword-stuffers.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•  Evidence-based Gating: </a:t>
            </a:r>
            <a:r>
              <a:rPr sz="1800">
                <a:solidFill>
                  <a:srgbClr val="E2E8F0"/>
                </a:solidFill>
                <a:latin typeface="Arial"/>
              </a:rPr>
              <a:t>Rigorous date and proficiency constraint validation successfully filtered out the 61 true honeypots.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•  Explainable &amp; Calibrated: </a:t>
            </a:r>
            <a:r>
              <a:rPr sz="1800">
                <a:solidFill>
                  <a:srgbClr val="E2E8F0"/>
                </a:solidFill>
                <a:latin typeface="Arial"/>
              </a:rPr>
              <a:t>Transparent named constants in score.py allow immediate weight tuning, visualized in a clean local Streamlit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