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4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4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stat pills. 23 seconds on CPU with no network access — that number alone shows the architecture decision was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columns frame everything. The keyword-stuffing trap is the whole point of this competition — our system was specifically designed to defeat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is everything. Phase 1 can take 6 hours — we only run it once. Phase 2 loads arrays and does matrix math. That is why it completes in 23 seconds while still using transformer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on each bar. Title relevance (25%) is the primary gate — it's what kills keyword-stuffers. Semantic is only 15% — it supports, never dominates. The detail column on the right is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24,931 → 61 story is critical. We didn't just tune a threshold — we proved those two rules were wrong using the organiser's own reference data as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story in the deck. Don't rush this slide. The bug was caught because we read real output — not because a test caught it. That's the answer to 'how did you verify your system worked'.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stat boxes. Then walk the score distribution — it shows the ranking is discriminative, not all clustered together. The detail card answers the 'how do you know it actually worked'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Point to the GitHub URL. The git history tells the real engineering story — 19 commits, two bug-fix commits that directly address the competition's own traps. That is the answer to 'did you actually build this or did AI build it for you'.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457200" y="-731520"/>
            <a:ext cx="4114800" cy="4114800"/>
          </a:xfrm>
          <a:prstGeom prst="ellipse">
            <a:avLst/>
          </a:prstGeom>
          <a:solidFill>
            <a:srgbClr val="001428">
              <a:alpha val="90000"/>
            </a:srgbClr>
          </a:solidFill>
          <a:ln w="12700">
            <a:solidFill>
              <a:srgbClr val="001428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011680"/>
            <a:ext cx="3474720" cy="347472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457200"/>
            <a:ext cx="54864" cy="54864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640080"/>
            <a:ext cx="54864" cy="54864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182880"/>
            <a:ext cx="54864" cy="54864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0" y="548640"/>
            <a:ext cx="54864" cy="54864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502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DATA &amp; AI CHALLENGE  ·  HACK2SKILL  ·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" y="822960"/>
            <a:ext cx="8229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Ranking</a:t>
            </a:r>
            <a:endParaRPr lang="en-US" sz="5000" dirty="0"/>
          </a:p>
        </p:txBody>
      </p:sp>
      <p:sp>
        <p:nvSpPr>
          <p:cNvPr id="34" name="Text 32"/>
          <p:cNvSpPr/>
          <p:nvPr/>
        </p:nvSpPr>
        <p:spPr>
          <a:xfrm>
            <a:off x="292608" y="2852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Two-Phase Hybrid Ranking System for 100,000 Profiles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2608" y="3255264"/>
            <a:ext cx="8595360" cy="0"/>
          </a:xfrm>
          <a:prstGeom prst="line">
            <a:avLst/>
          </a:prstGeom>
          <a:noFill/>
          <a:ln w="7620">
            <a:solidFill>
              <a:srgbClr val="1A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3401568"/>
            <a:ext cx="2011680" cy="987552"/>
          </a:xfrm>
          <a:prstGeom prst="roundRect">
            <a:avLst>
              <a:gd name="adj" fmla="val 6481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2608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92608" y="3913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87168" y="3401568"/>
            <a:ext cx="2011680" cy="987552"/>
          </a:xfrm>
          <a:prstGeom prst="roundRect">
            <a:avLst>
              <a:gd name="adj" fmla="val 6481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487168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487168" y="3913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Output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81728" y="3401568"/>
            <a:ext cx="2011680" cy="987552"/>
          </a:xfrm>
          <a:prstGeom prst="roundRect">
            <a:avLst>
              <a:gd name="adj" fmla="val 6481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81728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23.3s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681728" y="3913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Runtime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76288" y="3401568"/>
            <a:ext cx="2011680" cy="987552"/>
          </a:xfrm>
          <a:prstGeom prst="roundRect">
            <a:avLst>
              <a:gd name="adj" fmla="val 6481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76288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876288" y="3913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 100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2608" y="47365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Midhun PM  ·  MBA FinTech, Pondicherry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" y="0"/>
            <a:ext cx="9093708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7315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56032" y="49377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harder than it looks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749808"/>
            <a:ext cx="8631936" cy="0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868680"/>
            <a:ext cx="2761488" cy="4114800"/>
          </a:xfrm>
          <a:prstGeom prst="roundRect">
            <a:avLst>
              <a:gd name="adj" fmla="val 2318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868680"/>
            <a:ext cx="2761488" cy="420624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88696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Scale &amp; Constraints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13716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70432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synthetic candidate profiles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1874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70432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 — Founding Team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23774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best-fit candidates as CSV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28803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70432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min wall-clock, CPU only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338328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0432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16 GB RAM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38862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" y="3886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no API calls during ranking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3891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70432" y="4389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 during ranking step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63824" y="868680"/>
            <a:ext cx="2761488" cy="4114800"/>
          </a:xfrm>
          <a:prstGeom prst="roundRect">
            <a:avLst>
              <a:gd name="adj" fmla="val 2318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63824" y="868680"/>
            <a:ext cx="2761488" cy="42062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88696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Keyword-Stuffing Trap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273552" y="13716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78224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embedding/keyword match ranks buzzword-stuffers highly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73552" y="1874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78224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listing 10 AI tools outranks a real ML engineer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73552" y="23774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78224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 ≠ actual production experience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73552" y="28803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078224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honeypot profiles with impossible data planted deliberately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73552" y="338328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078224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&gt;10% honeypots in top 100 = full submission disqualified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73552" y="38862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078224" y="3886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Hand-engineered hybrid scorer + title taxonomy + duration-weighted skills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71616" y="868680"/>
            <a:ext cx="2761488" cy="4114800"/>
          </a:xfrm>
          <a:prstGeom prst="roundRect">
            <a:avLst>
              <a:gd name="adj" fmla="val 2318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71616" y="868680"/>
            <a:ext cx="2761488" cy="420624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81344" y="88696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No Training Signal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181344" y="13716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986016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— revealed only after submissions close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81344" y="1874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986016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train a supervised ranking model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81344" y="23774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986016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explainable, hand-tuned hybrid scorer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181344" y="28803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86016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Hand-labeled 50-candidate sample as proxy evaluation set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81344" y="338328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986016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(50%) + NDCG@50 (30%) + MAP (15%) + P@10 (5%)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181344" y="38862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986016" y="3886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interview to defend architecture decisions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" y="0"/>
            <a:ext cx="9093708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7315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Architecture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56032" y="49377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design decision that meets all hard constraints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749808"/>
            <a:ext cx="8631936" cy="0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868680"/>
            <a:ext cx="4069080" cy="4114800"/>
          </a:xfrm>
          <a:prstGeom prst="roundRect">
            <a:avLst>
              <a:gd name="adj" fmla="val 1573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868680"/>
            <a:ext cx="4069080" cy="36576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8869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 PHASE 1 — OFFLINE  (no time limit)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1325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precompute_features.py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Parses all 100K candidates from candidates.jsonl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Extracts 8 rule-based scoring features per candidate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Runs 4 honeypot consistency checks — flags impossible profiles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Output: artifacts/features.pkl.gz (~31 MB compressed)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29169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precompute_embeddings.py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Loads all-MiniLM-L6-v2 model locally (80 MB, CPU-only)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Encodes headline + summary + career descriptions per candidate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Truncated to ~300 words per profile for encoding speed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Output: embeddings.npy — exactly 100K × 384 float32 = 153 MB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" y="4398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Also encodes the fixed JD → jd_embedding.npy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61688" y="2688336"/>
            <a:ext cx="402336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523744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18888" y="868680"/>
            <a:ext cx="4069080" cy="4114800"/>
          </a:xfrm>
          <a:prstGeom prst="roundRect">
            <a:avLst>
              <a:gd name="adj" fmla="val 1573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18888" y="868680"/>
            <a:ext cx="4069080" cy="36576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8869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PHASE 2 — RANKING  (under 25 seconds)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19472" y="13258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rank.py  (the timed step)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Loads features.pkl.gz + embeddings.npy from disk instantly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Cosine similarity: one np.dot(embeddings, jd_vec) — milliseconds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Applies hybrid score formula across all 99,939 valid candidates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2920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Excludes 61 honeypot-flagged candidates from top-100 eligibility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Sorts by final_score descending, tie-break: candidate_id ascending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19472" y="32186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generator (inside rank.py)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Pulls specific facts: years, skill name, duration_months, location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Selects among 6 sentence templates based on dominant score driver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02920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Tone varies by rank: confident at #1, hedged/honest at #100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29200" y="4398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Output: submission.csv — 100 rows, all fact-grounded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" y="-19431"/>
            <a:ext cx="9093708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7315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 Formula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56032" y="41833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score.py — all weights are named constants, fully adjustable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flipV="1">
            <a:off x="50292" y="658368"/>
            <a:ext cx="9093708" cy="37084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471" y="660654"/>
            <a:ext cx="8631936" cy="52578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76123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Relevance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67712" y="87096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67712" y="870966"/>
            <a:ext cx="1280160" cy="146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04305" y="79781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8" y="76123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12778" y="71488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taxonomy: ML/AI Eng=1.0  ·  Backend(ML)=0.6  ·  Marketing Mgr=0.0  ·  Civil Eng=0.0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2608" y="128701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 Evidence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67712" y="139674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67712" y="1396746"/>
            <a:ext cx="1024128" cy="146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86018" y="1287018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5" y="132359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12778" y="124066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career_history descriptions for 'deployed','shipped','production','real users' — boosted at product companies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56032" y="1757934"/>
            <a:ext cx="8631936" cy="52578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181279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Infra Skills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67712" y="192252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67712" y="1922526"/>
            <a:ext cx="768096" cy="14630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86018" y="1812798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C4B5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04305" y="184937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12778" y="176644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Weaviate, FAISS, OpenSearch, BGE, E5, sentence-transformers — weighted by duration_months × endorsements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92608" y="233857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267712" y="244830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67712" y="2448306"/>
            <a:ext cx="768096" cy="14630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04305" y="237515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C4B5F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86018" y="233857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12778" y="229222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candidate embedding vs JD embedding — supports but never dominates the decision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56032" y="2809494"/>
            <a:ext cx="8631936" cy="52578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286435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267712" y="297408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67712" y="2974086"/>
            <a:ext cx="51206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04305" y="290093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6018" y="286435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512778" y="281800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NDCG, MRR, MAP, A/B testing mentions in skills and career history — weighted by duration/endorsements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92608" y="339013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Years Fit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267712" y="349986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67712" y="3499866"/>
            <a:ext cx="25603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04305" y="342671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86018" y="339013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512778" y="334378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bump function peaking at 5-9 years — decays gradually outside range, never a hard cutoff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56032" y="3861054"/>
            <a:ext cx="8631936" cy="52578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391591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Fit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267712" y="402564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67712" y="4025646"/>
            <a:ext cx="25603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04305" y="395249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86018" y="391591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512778" y="386956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Pune/Noida=highest  ·  Other Tier-1 + willing_to_relocate=good  ·  Outside India=low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92608" y="444169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267712" y="4551426"/>
            <a:ext cx="4462270" cy="14630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267712" y="4551426"/>
            <a:ext cx="25603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5" y="447827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0D1E35"/>
          </a:solidFill>
          <a:ln w="762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86018" y="444169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512778" y="4395343"/>
            <a:ext cx="14849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penalty scaling above 30 days — 90-day notice visibly hurts but doesn't zero-out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17170" y="4781170"/>
            <a:ext cx="8631936" cy="347472"/>
          </a:xfrm>
          <a:prstGeom prst="rect">
            <a:avLst/>
          </a:prstGeom>
          <a:solidFill>
            <a:srgbClr val="112444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6032" y="48234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final_score  =  </a:t>
            </a: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base_fit_score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behavioral_multiplier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[0.70 – 1.15]</a:t>
            </a: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last_active_date · open_to_work · recruiter_response_rate · interview_completion_rate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–1 sentinel → neutral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" y="0"/>
            <a:ext cx="9093708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7315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Consistency Gate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56032" y="49377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failing ANY check are excluded entirely — not just down-ranked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749808"/>
            <a:ext cx="8631936" cy="0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864108"/>
            <a:ext cx="4224528" cy="1764792"/>
          </a:xfrm>
          <a:prstGeom prst="roundRect">
            <a:avLst>
              <a:gd name="adj" fmla="val 3302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9189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918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9555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Unearned Expertise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" y="1449324"/>
            <a:ext cx="3968496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150418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Expert proficiency claimed in a skill with 0 duration_months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" y="178765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Physically impossible — you cannot be an expert at something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207111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you have never actually used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23545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Catches: candidates inflating skill levels with no evidence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864108"/>
            <a:ext cx="4224528" cy="1764792"/>
          </a:xfrm>
          <a:prstGeom prst="roundRect">
            <a:avLst>
              <a:gd name="adj" fmla="val 3302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91456" y="9189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918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21808" y="9555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Mismatch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91456" y="1449324"/>
            <a:ext cx="3968496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150418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Stated years_of_experience wildly inconsistent with the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91456" y="178765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sum of all career_history job durations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91456" y="207111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Generous slack applied for employment gaps between roles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91456" y="23545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Catches: profiles claiming 15 yrs exp with 2 yrs of history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2743200"/>
            <a:ext cx="4224528" cy="1764792"/>
          </a:xfrm>
          <a:prstGeom prst="roundRect">
            <a:avLst>
              <a:gd name="adj" fmla="val 3302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84048" y="2798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4400" y="283464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Timeline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84048" y="3328416"/>
            <a:ext cx="3968496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33832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Any job where start_date is after its own end_date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84048" y="366674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 physically impossible employment record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84048" y="395020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reasonable interpretation makes this legitimate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84048" y="42336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Catches: data-generation errors seeded as deliberate traps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2743200"/>
            <a:ext cx="4224528" cy="1764792"/>
          </a:xfrm>
          <a:prstGeom prst="roundRect">
            <a:avLst>
              <a:gd name="adj" fmla="val 3302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91456" y="2798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91456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21808" y="283464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Discrepancy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91456" y="3328416"/>
            <a:ext cx="3968496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33832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duration_months field contradicts actual start/end date gap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91456" y="366674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by more than 6 months — generous threshold to avoid false positives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91456" y="395020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Validated: gap between stated and calculated must be egregious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91456" y="42336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Catches: the most subtle honeypot type in the dataset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92608" y="4668012"/>
            <a:ext cx="8631936" cy="347472"/>
          </a:xfrm>
          <a:prstGeom prst="rect">
            <a:avLst/>
          </a:prstGeom>
          <a:solidFill>
            <a:srgbClr val="0A1E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466801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true honeypots excluded (0.06% of dataset)  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Key investigation: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24,931 flagged — salary-inversion &amp; signup-date rules were random data noise. Proved via organiser's own sample file. Removed.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" y="0"/>
            <a:ext cx="9093708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7315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Engineering: Catching the Keyword-Stuffing Trap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56032" y="49377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example of catching the exact failure mode the dataset is designed to test for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749808"/>
            <a:ext cx="8631936" cy="0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868680"/>
            <a:ext cx="4114800" cy="4133088"/>
          </a:xfrm>
          <a:prstGeom prst="roundRect">
            <a:avLst>
              <a:gd name="adj" fmla="val 1556"/>
            </a:avLst>
          </a:prstGeom>
          <a:solidFill>
            <a:srgbClr val="0D1E35"/>
          </a:solidFill>
          <a:ln w="8890">
            <a:solidFill>
              <a:srgbClr val="EF4444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868680"/>
            <a:ext cx="411480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88696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BEFORE  —  broken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1316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1536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title_relevance_score was not discriminating between AI/ML roles and completely unrelated titles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1801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(CAND_0000039) ranked #9 out of 50 candidates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2286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text: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25054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"Exceptional ML engineer profile with 3.9 years of background…"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2770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examples: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2990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 ranked #13, Project Manager #5 — all praised as 'Highly relevant'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3255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keyword list was too permissive — matching on generic 'Engineer' rather than AI/ML-specific terms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37398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scale: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3959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wrong on 50-candidate sample, identical bug running on full 100K submission CSV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425696" y="26517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4773168" y="868680"/>
            <a:ext cx="4114800" cy="4133088"/>
          </a:xfrm>
          <a:prstGeom prst="roundRect">
            <a:avLst>
              <a:gd name="adj" fmla="val 1556"/>
            </a:avLst>
          </a:prstGeom>
          <a:solidFill>
            <a:srgbClr val="0D1E35"/>
          </a:solidFill>
          <a:ln w="889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73168" y="868680"/>
            <a:ext cx="411480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88696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 —  fixed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82896" y="13167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82896" y="1536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title taxonomy with explicit zero-scoring for all unrelated title categories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82896" y="18013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82896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 Engineer → 1.0  ·  Backend Eng (ML) → 0.6  ·  Marketing Mgr → 0.0  ·  Civil Eng → 0.0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82896" y="2286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CAND_0000039: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82896" y="25054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now ranked #10/50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82896" y="27706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reasoning: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82896" y="2990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"Background as Marketing Manager is not aligned with the core requirements"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82896" y="32552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check: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82896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50-row scan for consecutive duplicate words — 0 matches after fix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82896" y="37398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rerun: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882896" y="3959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full pipeline: all top-100 titles are AI/ML-relevant, none are unrelated roles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" y="0"/>
            <a:ext cx="9093708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7315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56032" y="49377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was measured on the real 100,000-candidate dataset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749808"/>
            <a:ext cx="8631936" cy="0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868680"/>
            <a:ext cx="2011680" cy="1188720"/>
          </a:xfrm>
          <a:prstGeom prst="roundRect">
            <a:avLst>
              <a:gd name="adj" fmla="val 5385"/>
            </a:avLst>
          </a:prstGeom>
          <a:solidFill>
            <a:srgbClr val="0D1E35"/>
          </a:solidFill>
          <a:ln w="889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1522476"/>
            <a:ext cx="2011680" cy="0"/>
          </a:xfrm>
          <a:prstGeom prst="line">
            <a:avLst/>
          </a:prstGeom>
          <a:noFill/>
          <a:ln w="635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960120"/>
            <a:ext cx="186537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29184" y="1558138"/>
            <a:ext cx="18653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wall-clock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(5-min budget = 13× headroom)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95728" y="868680"/>
            <a:ext cx="2011680" cy="1188720"/>
          </a:xfrm>
          <a:prstGeom prst="roundRect">
            <a:avLst>
              <a:gd name="adj" fmla="val 5385"/>
            </a:avLst>
          </a:prstGeom>
          <a:solidFill>
            <a:srgbClr val="0D1E35"/>
          </a:solidFill>
          <a:ln w="889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395728" y="1522476"/>
            <a:ext cx="201168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960120"/>
            <a:ext cx="186537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2468880" y="1558138"/>
            <a:ext cx="18653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excluded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in top 100)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35424" y="868680"/>
            <a:ext cx="2011680" cy="1188720"/>
          </a:xfrm>
          <a:prstGeom prst="roundRect">
            <a:avLst>
              <a:gd name="adj" fmla="val 5385"/>
            </a:avLst>
          </a:prstGeom>
          <a:solidFill>
            <a:srgbClr val="0D1E35"/>
          </a:solidFill>
          <a:ln w="889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35424" y="1522476"/>
            <a:ext cx="201168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960120"/>
            <a:ext cx="186537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608576" y="1558138"/>
            <a:ext cx="18653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validate_submission.py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format errors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75120" y="868680"/>
            <a:ext cx="2212848" cy="1188720"/>
          </a:xfrm>
          <a:prstGeom prst="roundRect">
            <a:avLst>
              <a:gd name="adj" fmla="val 5385"/>
            </a:avLst>
          </a:prstGeom>
          <a:solidFill>
            <a:srgbClr val="0D1E35"/>
          </a:solidFill>
          <a:ln w="8890">
            <a:solidFill>
              <a:srgbClr val="C4B5FD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75120" y="1522476"/>
            <a:ext cx="2212848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960120"/>
            <a:ext cx="206654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748272" y="1558138"/>
            <a:ext cx="2066544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incremental history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2176272"/>
            <a:ext cx="4069080" cy="2834640"/>
          </a:xfrm>
          <a:prstGeom prst="roundRect">
            <a:avLst>
              <a:gd name="adj" fmla="val 2258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5760" y="2231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7472" y="25786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15568" y="2633472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5568" y="2633472"/>
            <a:ext cx="3008376" cy="146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25786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" y="29260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15568" y="2980944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5568" y="2980944"/>
            <a:ext cx="2624328" cy="146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0" y="29260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7472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115568" y="3328416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5568" y="3328416"/>
            <a:ext cx="2261616" cy="14630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0" y="32735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47472" y="36210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15568" y="3675888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5568" y="3675888"/>
            <a:ext cx="1898904" cy="14630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0" y="36210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47472" y="39684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115568" y="4023360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15568" y="4023360"/>
            <a:ext cx="123748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31920" y="39684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47472" y="43159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75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115568" y="4370832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15568" y="4370832"/>
            <a:ext cx="68275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0" y="4315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47472" y="46634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115568" y="4718304"/>
            <a:ext cx="3200400" cy="146304"/>
          </a:xfrm>
          <a:prstGeom prst="rect">
            <a:avLst/>
          </a:prstGeom>
          <a:solidFill>
            <a:srgbClr val="0A1628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15568" y="4718304"/>
            <a:ext cx="277368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31920" y="46634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434840" y="2176272"/>
            <a:ext cx="4453128" cy="2834640"/>
          </a:xfrm>
          <a:prstGeom prst="roundRect">
            <a:avLst>
              <a:gd name="adj" fmla="val 2258"/>
            </a:avLst>
          </a:prstGeom>
          <a:solidFill>
            <a:srgbClr val="0D1E35"/>
          </a:solidFill>
          <a:ln w="8890">
            <a:solidFill>
              <a:srgbClr val="1A3A6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553712" y="22311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Details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553712" y="2502408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486400" y="2502408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Gen Intel i5-13500H · 16 GB RAM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553712" y="2779776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486400" y="2779776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23.33s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2 · ~6 hrs Phase 1 (once only)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553712" y="3080004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486400" y="3080004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during ranking — zero API calls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553712" y="339090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486400" y="3390900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at any point in the pipeline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549140" y="3721227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Tie-break: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481828" y="3721227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candidate_id ascending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549140" y="4029646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range: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481828" y="4029646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1.041 (rank 1) → 0.913 (rank 100)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4549140" y="4337685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481828" y="4337685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rows verified — zero duplication patterns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549140" y="4685157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history: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481828" y="4685157"/>
            <a:ext cx="32918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commits: scaffold→features→scoring→tests→Streamlit→bug fixes→docs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71884"/>
            <a:ext cx="9144000" cy="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C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" y="0"/>
            <a:ext cx="9089136" cy="6126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256032" y="664083"/>
            <a:ext cx="8631936" cy="0"/>
          </a:xfrm>
          <a:prstGeom prst="line">
            <a:avLst/>
          </a:prstGeom>
          <a:noFill/>
          <a:ln w="1016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779145"/>
            <a:ext cx="8631936" cy="832670"/>
          </a:xfrm>
          <a:prstGeom prst="roundRect">
            <a:avLst>
              <a:gd name="adj" fmla="val 7000"/>
            </a:avLst>
          </a:prstGeom>
          <a:solidFill>
            <a:srgbClr val="0D1E35"/>
          </a:solidFill>
          <a:ln w="8890">
            <a:solidFill>
              <a:srgbClr val="00D4FF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925449"/>
            <a:ext cx="457200" cy="416335"/>
          </a:xfrm>
          <a:prstGeom prst="roundRect">
            <a:avLst>
              <a:gd name="adj" fmla="val 12000"/>
            </a:avLst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925449"/>
            <a:ext cx="457200" cy="41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870585"/>
            <a:ext cx="7863840" cy="249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Architecture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" y="1163193"/>
            <a:ext cx="7863840" cy="39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precompute runs once offline (no time limit). Ranking step loads arrays and runs matrix math — 23.3s, no API, no GPU, no network.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1803273"/>
            <a:ext cx="8631936" cy="832670"/>
          </a:xfrm>
          <a:prstGeom prst="roundRect">
            <a:avLst>
              <a:gd name="adj" fmla="val 7000"/>
            </a:avLst>
          </a:prstGeom>
          <a:solidFill>
            <a:srgbClr val="0D1E35"/>
          </a:solidFill>
          <a:ln w="889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1949577"/>
            <a:ext cx="457200" cy="416335"/>
          </a:xfrm>
          <a:prstGeom prst="roundRect">
            <a:avLst>
              <a:gd name="adj" fmla="val 12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1949577"/>
            <a:ext cx="457200" cy="41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6112" y="1894713"/>
            <a:ext cx="7863840" cy="249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 Defeats Keyword Stuffing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" y="2187321"/>
            <a:ext cx="7863840" cy="39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title taxonomy (Marketing Mgr=0.0) + duration-weighted skills + production evidence stops buzzword-stuffers at the title-relevance gate before semantic similarity even runs.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2827401"/>
            <a:ext cx="8631936" cy="832670"/>
          </a:xfrm>
          <a:prstGeom prst="roundRect">
            <a:avLst>
              <a:gd name="adj" fmla="val 7000"/>
            </a:avLst>
          </a:prstGeom>
          <a:solidFill>
            <a:srgbClr val="0D1E35"/>
          </a:solidFill>
          <a:ln w="889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" y="2973705"/>
            <a:ext cx="457200" cy="416335"/>
          </a:xfrm>
          <a:prstGeom prst="roundRect">
            <a:avLst>
              <a:gd name="adj" fmla="val 12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973705"/>
            <a:ext cx="457200" cy="41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6112" y="2918841"/>
            <a:ext cx="7863840" cy="249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Honeypot Gate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96112" y="3211449"/>
            <a:ext cx="7863840" cy="39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 consistency checks. Validated against organiser's own sample: proved salary-inversion rule was random noise affecting 25% of candidates. 61 true honeypots excluded.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3851529"/>
            <a:ext cx="8631936" cy="832670"/>
          </a:xfrm>
          <a:prstGeom prst="roundRect">
            <a:avLst>
              <a:gd name="adj" fmla="val 7000"/>
            </a:avLst>
          </a:prstGeom>
          <a:solidFill>
            <a:srgbClr val="0D1E35"/>
          </a:solidFill>
          <a:ln w="8890">
            <a:solidFill>
              <a:srgbClr val="C4B5FD"/>
            </a:solidFill>
            <a:prstDash val="solid"/>
          </a:ln>
          <a:effectLst>
            <a:outerShdw blurRad="1524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" y="3997833"/>
            <a:ext cx="457200" cy="416335"/>
          </a:xfrm>
          <a:prstGeom prst="roundRect">
            <a:avLst>
              <a:gd name="adj" fmla="val 12000"/>
            </a:avLst>
          </a:prstGeom>
          <a:solidFill>
            <a:srgbClr val="C4B5FD">
              <a:alpha val="18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997833"/>
            <a:ext cx="457200" cy="41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96112" y="3942969"/>
            <a:ext cx="7863840" cy="249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Caught and Fixed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6112" y="4235577"/>
            <a:ext cx="7863840" cy="39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ranked #9/50 with reasoning praising them as 'Exceptional ML engineer.' Diagnosed, title taxonomy rebuilt, re-ran full 100K — zero unrelated titles in top 100.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" y="4815852"/>
            <a:ext cx="8631936" cy="256032"/>
          </a:xfrm>
          <a:prstGeom prst="rect">
            <a:avLst/>
          </a:prstGeom>
          <a:solidFill>
            <a:srgbClr val="112444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81585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https://github.com/midhunpm1002/redrob-candidate-ranking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Sandbox: </a:t>
            </a: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https://redrob-candidate-ranking.streamlit.app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1903</Words>
  <Application>Microsoft Office PowerPoint</Application>
  <PresentationFormat>On-screen Show (16:9)</PresentationFormat>
  <Paragraphs>242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Candidate Discovery &amp; Ranking</dc:title>
  <dc:subject>PptxGenJS Presentation</dc:subject>
  <dc:creator>Midhun PM</dc:creator>
  <cp:lastModifiedBy>Midhun P M</cp:lastModifiedBy>
  <cp:revision>2</cp:revision>
  <dcterms:created xsi:type="dcterms:W3CDTF">2026-07-01T20:24:42Z</dcterms:created>
  <dcterms:modified xsi:type="dcterms:W3CDTF">2026-07-01T21:26:26Z</dcterms:modified>
</cp:coreProperties>
</file>